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43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hora. Hoy no explicamos tecnología a fondo: hoy nos conocemos y dejamos amarrado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los límites en voz alta desde la primera sesión evita malentendidos después. Nadie se molesta por saber esto al inicio; sí se molestan si lo descubren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Cronometra. Treinta segundos por persona, de verdad. Si son más de quince personas, hazlo en parejas y que cada quien presente al otro.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charla es nuestra puerta de entrada más grande del semestre. La sala llena depende de que la gente de esta sesión invite.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tomadas del sitio oficial de StarHacks. Si alguien pregunta por premios, aclarar que se reparten por región y que las reglas oficiales mandan.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registro es individual; el equipo se declara en la plataforma. Confirmar el tamaño exacto permitido en las reglas oficiales antes de cerrar equipos.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el QR a la vista mientras la gente lo escanea. No pasar de slide hasta que al menos la mitad de la sala lo haya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4114800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2860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Primera sesión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 Chapter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Conocernos, y preparar lo que viene en octubre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8006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SESIÓN 01   ·   IIT-UACJ   ·   9/15/26</a:t>
            </a:r>
          </a:p>
        </p:txBody>
      </p:sp>
      <p:sp>
        <p:nvSpPr>
          <p:cNvPr id="6" name="Shape 3"/>
          <p:cNvSpPr/>
          <p:nvPr/>
        </p:nvSpPr>
        <p:spPr>
          <a:xfrm>
            <a:off x="10088575" y="5669280"/>
            <a:ext cx="310896" cy="310896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4"/>
          <p:cNvSpPr/>
          <p:nvPr/>
        </p:nvSpPr>
        <p:spPr>
          <a:xfrm>
            <a:off x="10508285" y="5669280"/>
            <a:ext cx="310896" cy="310896"/>
          </a:xfrm>
          <a:prstGeom prst="rect">
            <a:avLst/>
          </a:prstGeom>
          <a:solidFill>
            <a:srgbClr val="78A9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10927994" y="5669280"/>
            <a:ext cx="310896" cy="310896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Cuatro bloques, una hora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817352" cy="89611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960120" y="20756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002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Quiénes somos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368296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es el Chapter, para quién es, y una vuelta de presentaciones.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898648"/>
            <a:ext cx="10817352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960120" y="309981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026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viene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39242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Semana de Ingeniería, IBM Z Datathon del 17 y 18 de octubre, IBM Z Day.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922776"/>
            <a:ext cx="10817352" cy="89611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960120" y="41239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050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entra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41655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Z Xplore, Discord, y qué hacemos en la próxima sesión.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946904"/>
            <a:ext cx="10817352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960120" y="514807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acciones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5440680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cada quien se lleva de tarea esta semana.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383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Quiénes somos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2519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Chapter, en dos minutos.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88575" y="5669280"/>
            <a:ext cx="310896" cy="310896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0508285" y="5669280"/>
            <a:ext cx="310896" cy="310896"/>
          </a:xfrm>
          <a:prstGeom prst="rect">
            <a:avLst/>
          </a:prstGeom>
          <a:solidFill>
            <a:srgbClr val="78A9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0927994" y="5669280"/>
            <a:ext cx="310896" cy="310896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 CHAPTER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comunidad de estudiantes, no una clase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10712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256032" cy="25603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Aprendemos juntos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Retos reales de IBM Z Xplore, resueltos en grupo. La plataforma enseña; nosotros nos acompañamos.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410712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4663440" y="2103120"/>
            <a:ext cx="256032" cy="256032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4663440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Gente de fuera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Ponentes de la industria, eventos globales de IBM, y contacto con profesionales de mainframe.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828800"/>
            <a:ext cx="3410712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8366760" y="2103120"/>
            <a:ext cx="256032" cy="256032"/>
          </a:xfrm>
          <a:prstGeom prst="rect">
            <a:avLst/>
          </a:prstGeom>
          <a:solidFill>
            <a:srgbClr val="007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8366760" y="2514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acredita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Insignias digitales verificables que puedes poner en tu LinkedIn y en tu CV.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434840"/>
            <a:ext cx="10817352" cy="132588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1005840" y="4617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LÍMITES, DICHOS DE FRENTE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91947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Chapter es una comunidad estudiantil en formación en el IIT. No es una promesa de empleo, y ninguno de nosotros es empleado de IBM.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 QUIÉN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necesitas saber programar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computación empresarial toca datos, seguridad, infraestructura, negocio y regulación. Hay un lugar aquí para cada una de esas cabezas.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10817352" cy="65836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960120" y="2697480"/>
            <a:ext cx="201168" cy="201168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1371600" y="2624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Sistemas y software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64261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Desarrollo, modernización de aplicaciones, APIs, automatización.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273552"/>
            <a:ext cx="10817352" cy="65836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960120" y="3502152"/>
            <a:ext cx="201168" cy="201168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137160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e 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4472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Analítica, modelos, datos en producción a escala real.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078224"/>
            <a:ext cx="10817352" cy="65836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960120" y="4306824"/>
            <a:ext cx="201168" cy="201168"/>
          </a:xfrm>
          <a:prstGeom prst="rect">
            <a:avLst/>
          </a:prstGeom>
          <a:solidFill>
            <a:srgbClr val="007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137160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Ciberseguridad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251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 de accesos, cifrado, cumplimiento.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882896"/>
            <a:ext cx="10817352" cy="65836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960120" y="5111496"/>
            <a:ext cx="201168" cy="201168"/>
          </a:xfrm>
          <a:prstGeom prst="rect">
            <a:avLst/>
          </a:prstGeom>
          <a:solidFill>
            <a:srgbClr val="EE53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1371600" y="5038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Negocio, derecho y otras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50566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Continuidad operativa, riesgo, regulación, gestión de proyectos.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Ya tenemos interés registrado desde Ingeniería y desde ICSA. Esto no es exclusivo del IIT.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DINÁMICA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Preséntate en treinta segundos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410712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1005840" y="2240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17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Nombre, carrera y semestre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947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básico, para ponerle cara a cada quien.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410712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709160" y="2240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A3F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017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te trajo hoy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7947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Curiosidad, el CV, un amigo que te arrastró. Todas las respuestas valen.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965960"/>
            <a:ext cx="3410712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412480" y="2240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D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017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te gustaría llevarte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7947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insignia, un equipo para el Datathon, contactos, o solo ver de qué se trata.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Apunta el nombre de alguien con quien te gustaría trabajar. En quince minutos vamos a hablar de equipos.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383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viene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2519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Septiembre, octubre y noviembre.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88575" y="5669280"/>
            <a:ext cx="310896" cy="310896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0508285" y="5669280"/>
            <a:ext cx="310896" cy="310896"/>
          </a:xfrm>
          <a:prstGeom prst="rect">
            <a:avLst/>
          </a:prstGeom>
          <a:solidFill>
            <a:srgbClr val="78A9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0927994" y="5669280"/>
            <a:ext cx="310896" cy="310896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CALENDARIO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fechas que importan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17352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920240" cy="11887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SEP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0299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Semana de Ingeniería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43230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Charla abierta: Introducción a la Computación Empresarial con IBM Z. Audiovisual B, IIT.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28455" y="2267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Abierto a todos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10817352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1920240" cy="118872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822960" y="3611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17-18 OCT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4015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Z Datathon 2026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80390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 horas, global, gratuito. Equipos que construyen una solución de IA con impacto social.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28455" y="3639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3F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Requiere equipo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10817352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85800" y="4572000"/>
            <a:ext cx="1920240" cy="1188720"/>
          </a:xfrm>
          <a:prstGeom prst="rect">
            <a:avLst/>
          </a:prstGeom>
          <a:solidFill>
            <a:srgbClr val="007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822960" y="4983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NOV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7731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Z Day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517550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Conferencia virtual gratuita de IBM. Lo vemos juntos en una sala del campus.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28455" y="5010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7D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Solo llegar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 medio: sesiones del Chapter para avanzar retos de Xplore juntos.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DE SEPTIEMBRE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Charla en la Semana de Ingeniería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943600" cy="35661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1051560" y="20574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Introducción a la Computación</a:t>
            </a:r>
            <a:endParaRPr lang="en-US" sz="2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Empresarial con IBM Z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FECHA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3118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Miércoles 23 de septiembre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666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630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11:30 a 13:00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178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LUGAR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41422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Audiovisual B, IIT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690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ENTRADA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46542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Libre, sin registro previo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se va a cubrir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33172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corre sobre mainframe hoy, y dónde lo tocas tú sin saberlo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familias de puestos existen, y cuáles no piden COBOL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entrar gratis a IBM Z Xplore y qué acredita una insignia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es el Chapter y cómo participar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86600" y="4297680"/>
            <a:ext cx="4434840" cy="105156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7315200" y="452628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 tarea: trae a dos personas que no sepan nada de esto.</a:t>
            </a:r>
            <a:endParaRPr lang="en-US" sz="1500" dirty="0"/>
          </a:p>
        </p:txBody>
      </p:sp>
      <p:pic>
        <p:nvPicPr>
          <p:cNvPr id="18" name="Image 0" descr="logotipo_iit_sin_fon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5669280"/>
            <a:ext cx="777240" cy="4846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EVENTO PRINCIPAL DE OCTUBRE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Z Datathon 2026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 horas. Equipos de estudiantes de todo el mundo construyendo IA con propósito social, sobre IBM Z. Gratis.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2468880" cy="17373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h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sprint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2514600"/>
            <a:ext cx="2468880" cy="17373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3703320" y="2743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45+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países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514600"/>
            <a:ext cx="2468880" cy="17373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6446520" y="2743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sedes presenciales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15400" y="2514600"/>
            <a:ext cx="2468880" cy="1737360"/>
          </a:xfrm>
          <a:prstGeom prst="rect">
            <a:avLst/>
          </a:prstGeom>
          <a:solidFill>
            <a:srgbClr val="1C1C1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9189720" y="27432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$50K+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918972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premios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y 18 de octubre de 2026   ·   Virtual y global   ·   Estudiantes universitarios de 18 años o más   ·   Registro gratuito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Organizado por la Shooting Stars Foundation con IBM Z. Nosotros participamos como equipos del Chapter.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88575" y="5669280"/>
            <a:ext cx="310896" cy="310896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10508285" y="5669280"/>
            <a:ext cx="310896" cy="310896"/>
          </a:xfrm>
          <a:prstGeom prst="rect">
            <a:avLst/>
          </a:prstGeom>
          <a:solidFill>
            <a:srgbClr val="78A9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10927994" y="5669280"/>
            <a:ext cx="310896" cy="310896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DATATHON · RETOS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temas para elegir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410712" cy="35661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978408" y="2057400"/>
            <a:ext cx="237744" cy="237744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78408" y="24871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AI for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Critical Decisions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Detectar, decidir, responder.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8862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Sistemas que analizan datos en movimiento, identifican riesgo y sostienen decisiones mientras los hechos ocurren.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410712" cy="35661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81728" y="2057400"/>
            <a:ext cx="237744" cy="237744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4681728" y="24871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Secured: Innovation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Exposure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3F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IA potente, datos protegidos.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8862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 que aprende de datos sensibles sin exponer identidad, confianza ni cumplimiento normativo.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783080"/>
            <a:ext cx="3410712" cy="35661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85048" y="2057400"/>
            <a:ext cx="237744" cy="237744"/>
          </a:xfrm>
          <a:prstGeom prst="rect">
            <a:avLst/>
          </a:prstGeom>
          <a:solidFill>
            <a:srgbClr val="007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8385048" y="24871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Wildcard: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the Obvious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D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 idea más atrevida.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38862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solución de datos e IA responsable, técnicamente ambiciosa, y fuera de lo evidente.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hace falta decidir hoy. Sí hace falta llegar al 17 con equipo y con una idea a medio cocinar.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DATATHON · EQUIPOS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Armamos equipos de cuatro a seis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200400" cy="21031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960120" y="20574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a 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personas por equipo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069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de cuatro y las 24 horas pesan demasiado. Más de seis y la coordinación se come el tiempo de construir.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830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equipo que funciona cubre estos cuatro frentes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7159752" cy="74980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526280" y="2560320"/>
            <a:ext cx="201168" cy="201168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4892040" y="2359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670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Consigue, limpia y entiende los datos. Suele ser el cuello de botella real.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43400" y="3154680"/>
            <a:ext cx="7159752" cy="74980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526280" y="3429000"/>
            <a:ext cx="201168" cy="201168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4892040" y="3227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5387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Entrena, ajusta y evalúa. No necesita ser experto, necesita ser terco.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43400" y="4023360"/>
            <a:ext cx="7159752" cy="74980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4526280" y="4297680"/>
            <a:ext cx="201168" cy="201168"/>
          </a:xfrm>
          <a:prstGeom prst="rect">
            <a:avLst/>
          </a:prstGeom>
          <a:solidFill>
            <a:srgbClr val="007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4892040" y="4096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Producto y narrativa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44074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Define el problema, arma el pitch, prepara la presentación final.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4892040"/>
            <a:ext cx="7159752" cy="74980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4526280" y="5166360"/>
            <a:ext cx="201168" cy="201168"/>
          </a:xfrm>
          <a:prstGeom prst="rect">
            <a:avLst/>
          </a:prstGeom>
          <a:solidFill>
            <a:srgbClr val="EE53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4892040" y="49651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Coordinación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5276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Reloj, entregables, subir a tiempo. Sin esto, buenos proyectos no se entregan.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Una persona puede cubrir dos frentes; ninguno puede quedar vacío. Los equipos mixtos entre carreras rinden mejor que los de puros programadores.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DATATHON · PREPARACIÓN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hacer entre hoy y el 17 de octubre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96012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ESTA SEMANA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7922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Regístrate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12140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al sitio del Datathon y completa tu registro individual. Es gratis y toma cinco minutos.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542032"/>
            <a:ext cx="10817352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960120" y="27706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A3F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ESTA SEMANA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5968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Junta tu equipo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926080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Cuatro a seis personas. Usa el canal del Discord para buscar quien falta.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346704"/>
            <a:ext cx="10817352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960120" y="3575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07D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PRIMERA DE OCT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Elige tema y problema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730752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los tres temas, uno. Escríbelo en una frase: qué problema, para quién.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151376"/>
            <a:ext cx="10817352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960120" y="43799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EE53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SEGUNDA DE OCT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 tus herramientas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4535424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 todos puedan abrir el entorno, el repositorio y los datos antes del día uno.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956048"/>
            <a:ext cx="10817352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960120" y="51846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DE OCTUBRE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834640" y="5010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Duerme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834640" y="5340096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serio. Son 24 horas seguidas y el segundo día decide el resultado.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Nada de esto requiere haber tocado un mainframe antes.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DATATHON · REGISTRO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te llevas, y dónde te apuntas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Aunque no ganes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proyecto terminado en 24 horas que sí puedes enseñar en una entrevista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Insignias digitales verificables de IBM, no un diploma de asistencia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Mentoría de profesionales durante el evento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Reconocimiento por universidad: hay premios a mayor participación y a mejor advocacy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4709160"/>
            <a:ext cx="5852160" cy="10515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960120" y="48920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premios a nivel universidad se reparten entre las escuelas con más equipos inscritos. Ahí sí depende de cuánta gente traigamos.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783080"/>
            <a:ext cx="4599432" cy="3977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717804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REGÍSTRATE AQUÍ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2468880"/>
            <a:ext cx="1600200" cy="1600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1" name="Image 0" descr="datathon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542032"/>
            <a:ext cx="1463040" cy="1463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17804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hack2skill.com/event/datathon-2026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47091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Registro individual, gratuito.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equipo se declara después dentro de la plataforma.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DE NOVIEMBRE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Z Day, y lo vemos juntos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Conferencia virtual y gratuita de IBM. Un día completo de sesiones técnicas y de carrera, con un recorrido guiado pensado para quien nunca ha tocado el tema.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3017520" cy="1143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41832" y="2907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D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300+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3456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ponentes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2743200"/>
            <a:ext cx="3017520" cy="1143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233672" y="29077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D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233672" y="3456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líneas técnicas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3017520" cy="1143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941832" y="42793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D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4828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recorridos guiados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4114800"/>
            <a:ext cx="3017520" cy="1143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4233672" y="42793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7D7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233672" y="4828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insignias posibles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1737360"/>
            <a:ext cx="3913632" cy="329184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786384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Nuestro plan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4231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Reservamos una sala del campus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Proyectamos las sesiones en español y las de nivel introductorio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Quien quiera, va por sus insignias ahí mismo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Cerramos con media hora de discusión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623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 el evento más fácil del semestre: solo hay que llegar.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2860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383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Cómo se entra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2519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Xplore, Discord, y la próxima sesión.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88575" y="5669280"/>
            <a:ext cx="310896" cy="310896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0508285" y="5669280"/>
            <a:ext cx="310896" cy="310896"/>
          </a:xfrm>
          <a:prstGeom prst="rect">
            <a:avLst/>
          </a:prstGeom>
          <a:solidFill>
            <a:srgbClr val="78A9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0927994" y="5669280"/>
            <a:ext cx="310896" cy="310896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XPLORE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plataforma donde se aprende, gratis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Videos, cuestionarios y retos prácticos sobre sistemas reales de IBM Z. Al completar los retos se obtienen insignias digitales verificables. No cuesta nada y no hay que instalar nada.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6583680" cy="56692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9144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7797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Escanea el QR y regístrate con la liga del Chapter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310128"/>
            <a:ext cx="6583680" cy="56692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91440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4381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Busca el recuadro rosa 'Ambassador Referral'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968496"/>
            <a:ext cx="6583680" cy="56692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914400" y="4078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096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Escribe ahí el nombre del ambassador y guárdalo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626864"/>
            <a:ext cx="6583680" cy="56692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91440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754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Empieza por el reto de Concepts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863840" y="1737360"/>
            <a:ext cx="3639312" cy="324612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80924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ESCANEA PARA ENTRAR</a:t>
            </a:r>
            <a:endParaRPr lang="en-US" sz="1000" dirty="0"/>
          </a:p>
        </p:txBody>
      </p:sp>
      <p:pic>
        <p:nvPicPr>
          <p:cNvPr id="19" name="Image 0" descr="referal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286000"/>
            <a:ext cx="1920240" cy="19202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09244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ibm.biz/refer-zxp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85800" y="5486400"/>
            <a:ext cx="10817352" cy="713232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 txBox="1"/>
          <p:nvPr/>
        </p:nvSpPr>
        <p:spPr>
          <a:xfrm>
            <a:off x="960120" y="5669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se te complica, no lo pelees solo: la próxima sesión la dedicamos completa a registrarnos en vivo, paso a paso.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COMUNIDAD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Ahí es donde pasa todo lo demás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393192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Discord del Chapter</a:t>
            </a:r>
            <a:endParaRPr lang="en-US" sz="1800" dirty="0"/>
          </a:p>
        </p:txBody>
      </p:sp>
      <p:pic>
        <p:nvPicPr>
          <p:cNvPr id="6" name="Image 0" descr="Discord_8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51460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4572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discord.gg/knAyPZP8CZ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9834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Anuncios, retos de la semana, búsqueda de equipo para el Datathon, y dudas a cualquier hora.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hay en cada canal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309360" y="2331720"/>
            <a:ext cx="5193792" cy="74980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6492240" y="2606040"/>
            <a:ext cx="201168" cy="201168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 txBox="1"/>
          <p:nvPr/>
        </p:nvSpPr>
        <p:spPr>
          <a:xfrm>
            <a:off x="6858000" y="2404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#anuncios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2734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Fechas, salas, cambios de última hora.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3200400"/>
            <a:ext cx="5193792" cy="74980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6492240" y="3474720"/>
            <a:ext cx="201168" cy="201168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 txBox="1"/>
          <p:nvPr/>
        </p:nvSpPr>
        <p:spPr>
          <a:xfrm>
            <a:off x="6858000" y="3273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#retos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36027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reto de la semana y dónde se atora la gente.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09360" y="4069080"/>
            <a:ext cx="5193792" cy="74980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6"/>
          <p:cNvSpPr/>
          <p:nvPr/>
        </p:nvSpPr>
        <p:spPr>
          <a:xfrm>
            <a:off x="6492240" y="4343400"/>
            <a:ext cx="201168" cy="201168"/>
          </a:xfrm>
          <a:prstGeom prst="rect">
            <a:avLst/>
          </a:prstGeom>
          <a:solidFill>
            <a:srgbClr val="007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 txBox="1"/>
          <p:nvPr/>
        </p:nvSpPr>
        <p:spPr>
          <a:xfrm>
            <a:off x="6858000" y="41422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#datathon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44714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Aquí se arman los equipos de octubre.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4937760"/>
            <a:ext cx="5193792" cy="74980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Shape 20"/>
          <p:cNvSpPr/>
          <p:nvPr/>
        </p:nvSpPr>
        <p:spPr>
          <a:xfrm>
            <a:off x="6492240" y="5212080"/>
            <a:ext cx="201168" cy="201168"/>
          </a:xfrm>
          <a:prstGeom prst="rect">
            <a:avLst/>
          </a:prstGeom>
          <a:solidFill>
            <a:srgbClr val="EE53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 txBox="1"/>
          <p:nvPr/>
        </p:nvSpPr>
        <p:spPr>
          <a:xfrm>
            <a:off x="6858000" y="50109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#general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53400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lo demás.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309360" y="5897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Entrar al Discord toma quince segundos. Hazlo ahora, no al rato.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CRECIMIENTO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Trae a alguien, y explícale por qué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Esto no crece con carteles. Crece porque alguien le dice a un amigo que vale la pena. Tú eres ese alguien.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5330952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005840" y="2606040"/>
            <a:ext cx="219456" cy="219456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100584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quién invitar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42900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Compañeros de tu semestre que andan buscando qué poner en el CV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Gente de otras carreras: derecho, negocios, biomédica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Quien ya sabe programar y se aburre en clase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Quien no sabe programar y cree que por eso no puede entrar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377440"/>
            <a:ext cx="5330952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492240" y="2606040"/>
            <a:ext cx="219456" cy="219456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49224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decirle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42900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 gratis, y las insignias son de IBM y verificables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Hay un evento global de 24 horas en octubre y armamos equipo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 pide experiencia previa en mainframe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puede entrar solo a mirar, sin comprometerse a nada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5394960"/>
            <a:ext cx="10817352" cy="7772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1005840" y="55778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 concreta: que cada persona de esta sala traiga a dos el 23 de septiembre.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ANTES DE IRTE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cosas, hoy mismo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17352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188720" cy="11887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Entra al Discord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4688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Escanea el QR de hace dos diapositivas. Preséntate en el canal general.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200400"/>
            <a:ext cx="10817352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1188720" cy="118872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777240" y="3566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Regístrate en Xplore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8404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la liga del Chapter, y escribe el nombre del ambassador en el recuadro de referral.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4572000"/>
            <a:ext cx="10817352" cy="118872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85800" y="4572000"/>
            <a:ext cx="1188720" cy="1188720"/>
          </a:xfrm>
          <a:prstGeom prst="rect">
            <a:avLst/>
          </a:prstGeom>
          <a:solidFill>
            <a:srgbClr val="007D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777240" y="49377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Apúntale a octubre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52120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Regístrate al Datathon y empieza a juntar tu equipo de cuatro a seis en el canal #datathon.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 próxima sesión: registro asistido a IBM Z Xplore, en vivo, paso a paso. Trae tu laptop o tu celular.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31520"/>
            <a:ext cx="4114800" cy="1280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2860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Nos vemos el 23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septiembre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840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 en el Discord, antes de eso.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223760" y="2377440"/>
            <a:ext cx="13716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1" descr="referal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459736"/>
            <a:ext cx="1207008" cy="12070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13232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Xplore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8823960" y="2377440"/>
            <a:ext cx="13716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2" descr="Discord_8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56" y="2459736"/>
            <a:ext cx="1207008" cy="12070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3252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Discord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10424160" y="2377440"/>
            <a:ext cx="13716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3" descr="datathon_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6456" y="2459736"/>
            <a:ext cx="1207008" cy="12070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33272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8A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Datathon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68580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8D8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Comunidad estudiantil en formación en el IIT-UACJ. No es una certificación profesional ni una promesa de empleo.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85800" y="5897880"/>
            <a:ext cx="274320" cy="274320"/>
          </a:xfrm>
          <a:prstGeom prst="rect">
            <a:avLst/>
          </a:prstGeom>
          <a:solidFill>
            <a:srgbClr val="0F62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Shape 10"/>
          <p:cNvSpPr/>
          <p:nvPr/>
        </p:nvSpPr>
        <p:spPr>
          <a:xfrm>
            <a:off x="1056132" y="5897880"/>
            <a:ext cx="274320" cy="274320"/>
          </a:xfrm>
          <a:prstGeom prst="rect">
            <a:avLst/>
          </a:prstGeom>
          <a:solidFill>
            <a:srgbClr val="78A9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1"/>
          <p:cNvSpPr/>
          <p:nvPr/>
        </p:nvSpPr>
        <p:spPr>
          <a:xfrm>
            <a:off x="1426464" y="5897880"/>
            <a:ext cx="274320" cy="274320"/>
          </a:xfrm>
          <a:prstGeom prst="rect">
            <a:avLst/>
          </a:prstGeom>
          <a:solidFill>
            <a:srgbClr val="8A3F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2"/>
          <p:cNvSpPr txBox="1"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Z UACJ Chapter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2064</Words>
  <Application>Microsoft Office PowerPoint</Application>
  <PresentationFormat>Widescreen</PresentationFormat>
  <Paragraphs>316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IBM Plex Mono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Primera sesion - IBM Z UACJ Chapter</dc:title>
  <dc:subject>PptxGenJS Presentation</dc:subject>
  <dc:creator>IBM Z UACJ Chapter</dc:creator>
  <cp:lastModifiedBy>CARLOS ERICK VELAZQUEZ VILLASEÑOR</cp:lastModifiedBy>
  <cp:revision>2</cp:revision>
  <dcterms:created xsi:type="dcterms:W3CDTF">2026-09-14T22:14:44Z</dcterms:created>
  <dcterms:modified xsi:type="dcterms:W3CDTF">2026-09-15T23:35:55Z</dcterms:modified>
</cp:coreProperties>
</file>